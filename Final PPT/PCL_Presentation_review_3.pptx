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92" r:id="rId7"/>
    <p:sldId id="271" r:id="rId8"/>
    <p:sldId id="272" r:id="rId9"/>
    <p:sldId id="273" r:id="rId10"/>
    <p:sldId id="308" r:id="rId11"/>
    <p:sldId id="274" r:id="rId12"/>
    <p:sldId id="275" r:id="rId13"/>
    <p:sldId id="270" r:id="rId14"/>
    <p:sldId id="279" r:id="rId15"/>
    <p:sldId id="317" r:id="rId16"/>
    <p:sldId id="312" r:id="rId17"/>
    <p:sldId id="318" r:id="rId18"/>
    <p:sldId id="314" r:id="rId19"/>
    <p:sldId id="305" r:id="rId20"/>
    <p:sldId id="309" r:id="rId21"/>
    <p:sldId id="30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8004F-4CBF-4648-80BD-F5ED5A2EACF0}" v="6" dt="2025-04-24T17:39:11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C600C-C61D-4B2A-A47B-586CFA6FEEA2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2F2E9-BF7E-476D-A34F-8138ADC11B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062319A-84B9-4940-89CF-EF417369B253}" type="slidenum">
              <a:rPr lang="en-US" smtClean="0">
                <a:latin typeface="Arial" charset="0"/>
                <a:cs typeface="Arial" charset="0"/>
              </a:rPr>
              <a:pPr/>
              <a:t>1</a:t>
            </a:fld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8E753-104F-41EE-8906-46A17B9DDA3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3E942-B799-4BB5-B3B7-FBA5C48072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5.20362?utm_source=chatgpt.com" TargetMode="External"/><Relationship Id="rId2" Type="http://schemas.openxmlformats.org/officeDocument/2006/relationships/hyperlink" Target="https://arxiv.org/abs/2402.04140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ournals.sagepub.com/doi/full/10.1177/20539517241255101?utm_source=chatgpt.com" TargetMode="External"/><Relationship Id="rId5" Type="http://schemas.openxmlformats.org/officeDocument/2006/relationships/hyperlink" Target="https://arxiv.org/abs/2403.10944?utm_source=chatgpt.com" TargetMode="External"/><Relationship Id="rId4" Type="http://schemas.openxmlformats.org/officeDocument/2006/relationships/hyperlink" Target="https://arxiv.org/abs/2404.09868?utm_source=chatgpt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1"/>
          <p:cNvSpPr>
            <a:spLocks noChangeArrowheads="1"/>
          </p:cNvSpPr>
          <p:nvPr/>
        </p:nvSpPr>
        <p:spPr bwMode="auto">
          <a:xfrm>
            <a:off x="1104899" y="2663795"/>
            <a:ext cx="6934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NyayVandan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AI-Driven Legal</a:t>
            </a:r>
          </a:p>
          <a:p>
            <a:pPr algn="ctr" eaLnBrk="0" hangingPunct="0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Decision Support System</a:t>
            </a:r>
          </a:p>
        </p:txBody>
      </p:sp>
      <p:sp>
        <p:nvSpPr>
          <p:cNvPr id="2053" name="Rectangle 11"/>
          <p:cNvSpPr>
            <a:spLocks noChangeArrowheads="1"/>
          </p:cNvSpPr>
          <p:nvPr/>
        </p:nvSpPr>
        <p:spPr bwMode="auto">
          <a:xfrm>
            <a:off x="2362200" y="5454911"/>
            <a:ext cx="41910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Guided By,</a:t>
            </a:r>
          </a:p>
          <a:p>
            <a:pPr algn="ctr" eaLnBrk="0" hangingPunct="0"/>
            <a:r>
              <a:rPr lang="en-IN" sz="2400" dirty="0" err="1"/>
              <a:t>Mr.Divyanshu</a:t>
            </a:r>
            <a:r>
              <a:rPr lang="en-IN" sz="2400" dirty="0"/>
              <a:t> Prakash </a:t>
            </a:r>
            <a:br>
              <a:rPr lang="en-IN" sz="2400" dirty="0"/>
            </a:br>
            <a:r>
              <a:rPr lang="en-IN" sz="2400" dirty="0"/>
              <a:t>Assistant Professor / AIML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4" name="Rectangle 11"/>
          <p:cNvSpPr>
            <a:spLocks noChangeArrowheads="1"/>
          </p:cNvSpPr>
          <p:nvPr/>
        </p:nvSpPr>
        <p:spPr bwMode="auto">
          <a:xfrm>
            <a:off x="2438400" y="4191000"/>
            <a:ext cx="4267199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Presentation By,</a:t>
            </a:r>
          </a:p>
          <a:p>
            <a:pPr algn="ctr" eaLnBrk="0" hangingPunct="0"/>
            <a:r>
              <a:rPr lang="en-US" sz="20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Tanya Singh(23BTRCL087),</a:t>
            </a:r>
          </a:p>
          <a:p>
            <a:pPr algn="ctr" eaLnBrk="0" hangingPunct="0"/>
            <a:r>
              <a:rPr lang="en-US" sz="20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G Yaswanthi(23BTRCL187),</a:t>
            </a:r>
          </a:p>
          <a:p>
            <a:pPr algn="ctr" eaLnBrk="0" hangingPunct="0"/>
            <a:r>
              <a:rPr lang="en-US" sz="20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Snigdha </a:t>
            </a:r>
            <a:r>
              <a:rPr lang="en-US" sz="2000" b="1" dirty="0" err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Gooty</a:t>
            </a:r>
            <a:r>
              <a:rPr lang="en-US" sz="20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(23BTRCL191)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00F88-2DC9-A926-41D1-EF2F29375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94" y="304800"/>
            <a:ext cx="8315211" cy="12261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24AACE-95EA-223E-D161-FDFF35E65F8E}"/>
              </a:ext>
            </a:extLst>
          </p:cNvPr>
          <p:cNvSpPr txBox="1"/>
          <p:nvPr/>
        </p:nvSpPr>
        <p:spPr>
          <a:xfrm>
            <a:off x="3581399" y="1806733"/>
            <a:ext cx="1981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Team No. 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CONTENTS</a:t>
            </a:r>
            <a:br>
              <a:rPr lang="en-US" b="1" dirty="0">
                <a:latin typeface="Book Antiqua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Abstract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Introduction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System requirement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Literature Survey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Existing system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Block diagram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Proposed System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Prototype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Frontend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Backend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itchFamily="18" charset="0"/>
                <a:cs typeface="Times New Roman" pitchFamily="18" charset="0"/>
              </a:rPr>
              <a:t>References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Book Antiqua" pitchFamily="18" charset="0"/>
              <a:cs typeface="Times New Roman" pitchFamily="18" charset="0"/>
            </a:endParaRPr>
          </a:p>
          <a:p>
            <a:pPr>
              <a:buNone/>
            </a:pP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  <a:latin typeface="Book Antiqua" pitchFamily="18" charset="0"/>
              <a:cs typeface="Times New Roman" pitchFamily="18" charset="0"/>
            </a:endParaRPr>
          </a:p>
          <a:p>
            <a:pPr>
              <a:buNone/>
            </a:pP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  <a:latin typeface="Book Antiqua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Autofit/>
          </a:bodyPr>
          <a:lstStyle/>
          <a:p>
            <a:r>
              <a:rPr lang="en-US" sz="2800" dirty="0" err="1"/>
              <a:t>NyayVandan</a:t>
            </a:r>
            <a:r>
              <a:rPr lang="en-US" sz="2800" dirty="0"/>
              <a:t> is an AI-powered judicial decision support system designed to assist judges by retrieving legally relevant precedents with </a:t>
            </a:r>
            <a:r>
              <a:rPr lang="en-US" sz="2800" b="1" dirty="0"/>
              <a:t>explainable reasoning and ethical safeguards</a:t>
            </a:r>
            <a:r>
              <a:rPr lang="en-US" sz="2800" dirty="0"/>
              <a:t>.</a:t>
            </a:r>
          </a:p>
          <a:p>
            <a:r>
              <a:rPr lang="en-US" sz="2800" dirty="0"/>
              <a:t>Unlike existing legal AI tools that focus on prediction or keyword search, </a:t>
            </a:r>
            <a:r>
              <a:rPr lang="en-US" sz="2800" dirty="0" err="1"/>
              <a:t>NyayVandan</a:t>
            </a:r>
            <a:r>
              <a:rPr lang="en-US" sz="2800" dirty="0"/>
              <a:t> emphasizes </a:t>
            </a:r>
            <a:r>
              <a:rPr lang="en-US" sz="2800" b="1" dirty="0"/>
              <a:t>case-based reasoning, transparency, and constitutional alignment</a:t>
            </a:r>
            <a:r>
              <a:rPr lang="en-US" sz="2800" dirty="0"/>
              <a:t>. </a:t>
            </a:r>
          </a:p>
          <a:p>
            <a:r>
              <a:rPr lang="en-US" sz="2800" dirty="0"/>
              <a:t>The system integrates hybrid semantic–lexical retrieval, explainable AI techniques, and bias detection mechanisms to ensure responsible use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800" dirty="0"/>
              <a:t>By remaining strictly advisory and human-in-the-loop, </a:t>
            </a:r>
            <a:r>
              <a:rPr lang="en-US" sz="2800" dirty="0" err="1"/>
              <a:t>NyayVandan</a:t>
            </a:r>
            <a:r>
              <a:rPr lang="en-US" sz="2800" dirty="0"/>
              <a:t> enhances judicial efficiency while preserving judicial independence.</a:t>
            </a:r>
          </a:p>
          <a:p>
            <a:pPr marL="0" indent="0">
              <a:lnSpc>
                <a:spcPct val="17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Indian courts face severe backlog and delayed justice</a:t>
            </a:r>
          </a:p>
          <a:p>
            <a:r>
              <a:rPr lang="en-US" dirty="0"/>
              <a:t>Judges spend significant time on manual precedent research</a:t>
            </a:r>
          </a:p>
          <a:p>
            <a:r>
              <a:rPr lang="en-US" dirty="0"/>
              <a:t>Explosion of digitized judgments creates cognitive overload</a:t>
            </a:r>
          </a:p>
          <a:p>
            <a:r>
              <a:rPr lang="en-US" dirty="0"/>
              <a:t>AI can assist, but </a:t>
            </a:r>
            <a:r>
              <a:rPr lang="en-US" b="1" dirty="0"/>
              <a:t>must be transparent, ethical, and non-directive</a:t>
            </a:r>
            <a:endParaRPr lang="en-US" dirty="0"/>
          </a:p>
          <a:p>
            <a:endParaRPr lang="en-US" dirty="0"/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dirty="0" err="1"/>
              <a:t>NyayVandan</a:t>
            </a:r>
            <a:r>
              <a:rPr lang="en-US" dirty="0"/>
              <a:t> is proposed as a </a:t>
            </a:r>
            <a:r>
              <a:rPr lang="en-US" b="1" dirty="0"/>
              <a:t>judge-centric decision support system</a:t>
            </a:r>
            <a:r>
              <a:rPr lang="en-US" dirty="0"/>
              <a:t>, not an automated decision-maker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400" b="1" cap="all" dirty="0">
                <a:latin typeface="Times New Roman" pitchFamily="18" charset="0"/>
                <a:cs typeface="Times New Roman" pitchFamily="18" charset="0"/>
              </a:rPr>
              <a:t>Software CONFIGURATION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OS: Windows / Linux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Python 3.9+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Frameworks: </a:t>
            </a:r>
            <a:r>
              <a:rPr lang="en-IN" dirty="0" err="1"/>
              <a:t>Streamlit</a:t>
            </a:r>
            <a:r>
              <a:rPr lang="en-IN" dirty="0"/>
              <a:t>, </a:t>
            </a:r>
            <a:r>
              <a:rPr lang="en-IN" dirty="0" err="1"/>
              <a:t>FastAPI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Libraries: </a:t>
            </a:r>
            <a:r>
              <a:rPr lang="en-IN" dirty="0" err="1"/>
              <a:t>spaCy</a:t>
            </a:r>
            <a:r>
              <a:rPr lang="en-IN" dirty="0"/>
              <a:t>, Sentence-BERT, FAISS, Scikit-learn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Database: Local file system / vector index (offline)</a:t>
            </a:r>
          </a:p>
          <a:p>
            <a:pPr marL="0" lv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r>
              <a:rPr lang="en-US" sz="2400" b="1" cap="all" dirty="0">
                <a:latin typeface="Times New Roman" pitchFamily="18" charset="0"/>
                <a:cs typeface="Times New Roman" pitchFamily="18" charset="0"/>
              </a:rPr>
              <a:t>Hardware CONFIGURATION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Processor: Intel i5 / </a:t>
            </a:r>
            <a:r>
              <a:rPr lang="en-IN" dirty="0" err="1"/>
              <a:t>Ryzen</a:t>
            </a:r>
            <a:r>
              <a:rPr lang="en-IN" dirty="0"/>
              <a:t> 5 or above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RAM: Minimum 8 GB (16 GB recommended)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GPU: Optional (for faster embedding inference)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Storage: 20+ GB for datasets and indexes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95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"AI-Driven Statutory Reasoning via Software Engineering Methods" by Rohan </a:t>
            </a:r>
            <a:r>
              <a:rPr lang="en-US" sz="2400" b="1" dirty="0" err="1"/>
              <a:t>Padhye</a:t>
            </a:r>
            <a:r>
              <a:rPr lang="en-US" sz="2400" b="1" dirty="0"/>
              <a:t> (2024)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Treats legal rules like computer programs for better understanding.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Makes AI more accurate in interpreting complex laws.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“AI in reasoning and attribute” by Michael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De'Shazer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(2024)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Uses AI to find biases in legal judgments.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Helps lawyers and judges make fairer decisions using AI-assisted arbitration.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458200" cy="6172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"Human Centered AI for Indian Legal Text Analytics" by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Sudipto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Ghosh et al. (2024)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Builds AI tools specially designed for Indian law.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Helps lawyers understand legal documents faster with AI assistance.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"Justitia ex Machina: The Impact of an AI System on Legal Decision-Making" (2024)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Explores the development and use of an AI system for processing traffic violation appeals in a Dutch court.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It assesses the system's impact on legal decision-making and highlights considerations for AI integration in judicial processes.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7320D-3EFF-4EF0-7433-F0F9A5DB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B0127-A0DA-BC28-BB96-6D171DDB8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4800"/>
            <a:ext cx="8458200" cy="6172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Leading AI Legal Research by V</a:t>
            </a:r>
            <a:r>
              <a:rPr lang="da-DK" sz="2400" b="1" dirty="0">
                <a:latin typeface="Times New Roman" pitchFamily="18" charset="0"/>
                <a:cs typeface="Times New Roman" pitchFamily="18" charset="0"/>
              </a:rPr>
              <a:t>arun Magesh et al. (2024)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Checks how accurate AI tools are in legal research.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Helps lawyers choose reliable AI tools and avoid misleading results.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252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/>
          </a:bodyPr>
          <a:lstStyle/>
          <a:p>
            <a:r>
              <a:rPr lang="en-US" sz="4000" dirty="0"/>
              <a:t>Relies on keyword or citation-based search</a:t>
            </a:r>
          </a:p>
          <a:p>
            <a:r>
              <a:rPr lang="en-US" sz="4000" dirty="0"/>
              <a:t>No understanding of factual similarity</a:t>
            </a:r>
          </a:p>
          <a:p>
            <a:r>
              <a:rPr lang="en-US" sz="4000" dirty="0"/>
              <a:t>No explanation of </a:t>
            </a:r>
            <a:r>
              <a:rPr lang="en-US" sz="4000" i="1" dirty="0"/>
              <a:t>why</a:t>
            </a:r>
            <a:r>
              <a:rPr lang="en-US" sz="4000" dirty="0"/>
              <a:t> a case is relevant</a:t>
            </a:r>
          </a:p>
          <a:p>
            <a:r>
              <a:rPr lang="en-US" sz="4000" dirty="0"/>
              <a:t>No bias detection or constitutional checks</a:t>
            </a:r>
          </a:p>
          <a:p>
            <a:r>
              <a:rPr lang="en-US" sz="4000" dirty="0"/>
              <a:t>Designed mainly for lawyers, not judges</a:t>
            </a:r>
          </a:p>
          <a:p>
            <a:pPr algn="just">
              <a:lnSpc>
                <a:spcPct val="170000"/>
              </a:lnSpc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Limitations: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Inconsistent outcomes</a:t>
            </a:r>
          </a:p>
          <a:p>
            <a:r>
              <a:rPr lang="en-US" dirty="0"/>
              <a:t>Risk of implicit bias</a:t>
            </a:r>
          </a:p>
          <a:p>
            <a:r>
              <a:rPr lang="en-US" dirty="0"/>
              <a:t>Lack of trust in AI outputs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Flow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FA767F-B9FB-AC65-23BB-90C2FE87B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75528"/>
            <a:ext cx="6327648" cy="48895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62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83CB871-B126-A06C-67A1-34B501F660C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4800" y="1363937"/>
            <a:ext cx="86106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Hybrid </a:t>
            </a:r>
            <a:r>
              <a:rPr lang="en-IN" sz="3200" b="1" dirty="0"/>
              <a:t>semantic + lexical + entity-based retrieval</a:t>
            </a:r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Uses Sentence-BERT embeddings and TF-IDF/BM25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Provides </a:t>
            </a:r>
            <a:r>
              <a:rPr lang="en-IN" sz="3200" b="1" dirty="0"/>
              <a:t>citeable explanations</a:t>
            </a:r>
            <a:r>
              <a:rPr lang="en-IN" sz="3200" dirty="0"/>
              <a:t> using XAI methods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Computes </a:t>
            </a:r>
            <a:r>
              <a:rPr lang="en-IN" sz="3200" b="1" dirty="0"/>
              <a:t>diversity score</a:t>
            </a:r>
            <a:r>
              <a:rPr lang="en-IN" sz="3200" dirty="0"/>
              <a:t> to flag biased precedent sets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Checks alignment with </a:t>
            </a:r>
            <a:r>
              <a:rPr lang="en-IN" sz="3200" b="1" dirty="0"/>
              <a:t>constitutional principles</a:t>
            </a:r>
            <a:endParaRPr lang="en-IN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/>
              <a:t>Fully </a:t>
            </a:r>
            <a:r>
              <a:rPr lang="en-IN" sz="3200" b="1" dirty="0"/>
              <a:t>human-in-the-loop</a:t>
            </a:r>
            <a:r>
              <a:rPr lang="en-IN" sz="3200" dirty="0"/>
              <a:t> and advisory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C0D7-976A-BBCE-35A8-CC9A7D9A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FA251-AB57-9B7E-1A96-8DF0A2AE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22437"/>
            <a:ext cx="8229600" cy="4525963"/>
          </a:xfrm>
        </p:spPr>
        <p:txBody>
          <a:bodyPr/>
          <a:lstStyle/>
          <a:p>
            <a:r>
              <a:rPr lang="en-IN" dirty="0"/>
              <a:t>Frontend: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AD540-CC76-1B8C-0DF0-5AF800897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" y="2340687"/>
            <a:ext cx="7284720" cy="41363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272E82-B26C-EDEB-FC04-DCD42BA9C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06820"/>
            <a:ext cx="8379452" cy="450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36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6D4CBF-1004-2F51-38C1-7CB2BECD8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14400"/>
            <a:ext cx="8686800" cy="4495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C04B4-EDE5-E622-D8AF-180C2E026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880533"/>
            <a:ext cx="9144000" cy="485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7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10D7-654B-F70A-7F88-20A676CD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905000"/>
            <a:ext cx="7772400" cy="3863975"/>
          </a:xfrm>
        </p:spPr>
        <p:txBody>
          <a:bodyPr/>
          <a:lstStyle/>
          <a:p>
            <a:r>
              <a:rPr lang="en-IN" dirty="0"/>
              <a:t>                              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05C83-EB9C-8A10-2892-555E351C1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533401"/>
            <a:ext cx="7772400" cy="76199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1"/>
                </a:solidFill>
              </a:rPr>
              <a:t>Backend: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9BEDE-9A49-1131-F234-302533997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116" y="437614"/>
            <a:ext cx="5292571" cy="588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11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FFC59-1624-1F74-90BE-BBC32292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23DC3A-B491-E144-B994-4BFE0F41E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295400"/>
            <a:ext cx="8915400" cy="38159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C949D-D97F-80EA-9FF5-13EAE2810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70"/>
            <a:ext cx="9029700" cy="650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34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/>
              <a:t>NyayVandan</a:t>
            </a:r>
            <a:r>
              <a:rPr lang="en-US" dirty="0"/>
              <a:t> demonstrates how AI can responsibly assist the judiciary by shifting focus from </a:t>
            </a:r>
            <a:r>
              <a:rPr lang="en-US" b="1" dirty="0"/>
              <a:t>prediction to reasoning</a:t>
            </a:r>
            <a:r>
              <a:rPr lang="en-US" dirty="0"/>
              <a:t>. By integrating explainability, ethics, and precedent-aware retrieval within an India-specific legal framework, the system enhances efficiency while safeguarding judicial autonomy. </a:t>
            </a:r>
            <a:r>
              <a:rPr lang="en-US" dirty="0" err="1"/>
              <a:t>NyayVandan</a:t>
            </a:r>
            <a:r>
              <a:rPr lang="en-US" dirty="0"/>
              <a:t> offers a practical, ethical, and scalable path for AI adoption in courts.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400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34F1-FFC0-68C0-62BD-F91BFF1B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3DBB-6484-7D54-9D07-3195D664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Links: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B1345-D106-B85E-6145-C2AF9273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hlinkClick r:id="rId2"/>
              </a:rPr>
              <a:t>[2402.04140] Advancing Legal Reasoning: The Integration of AI to Navigate Complexities and Biases in Global Jurisprudence with Semi-Automated Arbitration Processes (SAAPs)</a:t>
            </a:r>
            <a:endParaRPr lang="en-US" sz="1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hlinkClick r:id="rId3"/>
              </a:rPr>
              <a:t>[2405.20362] Hallucination-Free? Assessing the Reliability of Leading AI Legal Research Tools</a:t>
            </a:r>
            <a:endParaRPr lang="en-US" sz="1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hlinkClick r:id="rId4"/>
              </a:rPr>
              <a:t>[2404.09868] Software Engineering Methods For AI-Driven Deductive Legal Reasoning</a:t>
            </a:r>
            <a:endParaRPr lang="en-US" sz="1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hlinkClick r:id="rId5"/>
              </a:rPr>
              <a:t>[2403.10944] Human Centered AI for Indian Legal Text Analytics</a:t>
            </a:r>
            <a:endParaRPr lang="en-US" sz="1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hlinkClick r:id="rId6"/>
              </a:rPr>
              <a:t>Justitia ex machina: The impact of an AI system on legal decision-making and discretionary authority - Daan </a:t>
            </a:r>
            <a:r>
              <a:rPr lang="en-US" sz="1400" dirty="0" err="1">
                <a:hlinkClick r:id="rId6"/>
              </a:rPr>
              <a:t>Kolkman</a:t>
            </a:r>
            <a:r>
              <a:rPr lang="en-US" sz="1400" dirty="0">
                <a:hlinkClick r:id="rId6"/>
              </a:rPr>
              <a:t>, Floris Bex, Nitin Narayan, </a:t>
            </a:r>
            <a:r>
              <a:rPr lang="en-US" sz="1400" dirty="0" err="1">
                <a:hlinkClick r:id="rId6"/>
              </a:rPr>
              <a:t>Manuella</a:t>
            </a:r>
            <a:r>
              <a:rPr lang="en-US" sz="1400">
                <a:hlinkClick r:id="rId6"/>
              </a:rPr>
              <a:t> van der Put, 2024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276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B9DF-AEDE-F80F-6FEC-7DD661EFB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58909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734</Words>
  <Application>Microsoft Office PowerPoint</Application>
  <PresentationFormat>On-screen Show (4:3)</PresentationFormat>
  <Paragraphs>99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Book Antiqua</vt:lpstr>
      <vt:lpstr>Calibri</vt:lpstr>
      <vt:lpstr>Times New Roman</vt:lpstr>
      <vt:lpstr>Wingdings</vt:lpstr>
      <vt:lpstr>Office Theme</vt:lpstr>
      <vt:lpstr>PowerPoint Presentation</vt:lpstr>
      <vt:lpstr> CONTENTS </vt:lpstr>
      <vt:lpstr>ABSTRACT</vt:lpstr>
      <vt:lpstr>PowerPoint Presentation</vt:lpstr>
      <vt:lpstr>INTRODUCTION</vt:lpstr>
      <vt:lpstr>PowerPoint Presentation</vt:lpstr>
      <vt:lpstr>SYSTEM REQUIREMENT</vt:lpstr>
      <vt:lpstr>LITERATURE SURVEY</vt:lpstr>
      <vt:lpstr>PowerPoint Presentation</vt:lpstr>
      <vt:lpstr>PowerPoint Presentation</vt:lpstr>
      <vt:lpstr>EXISTING SYSTEM</vt:lpstr>
      <vt:lpstr>PowerPoint Presentation</vt:lpstr>
      <vt:lpstr>Execution Flow</vt:lpstr>
      <vt:lpstr>Proposed System</vt:lpstr>
      <vt:lpstr>Prototype</vt:lpstr>
      <vt:lpstr>PowerPoint Presentation</vt:lpstr>
      <vt:lpstr>                              .</vt:lpstr>
      <vt:lpstr>PowerPoint Presentation</vt:lpstr>
      <vt:lpstr>CONCLUSION:</vt:lpstr>
      <vt:lpstr>Reference Links: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Admin1</dc:creator>
  <cp:lastModifiedBy>Tanya Singh</cp:lastModifiedBy>
  <cp:revision>38</cp:revision>
  <dcterms:created xsi:type="dcterms:W3CDTF">2020-04-08T03:49:03Z</dcterms:created>
  <dcterms:modified xsi:type="dcterms:W3CDTF">2026-02-27T04:14:26Z</dcterms:modified>
</cp:coreProperties>
</file>